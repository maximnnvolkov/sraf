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ложка" id="{3fc2256d-942f-677a-c24d-9e984add3f7f}">
          <p14:sldIdLst>
            <p14:sldId id="256"/>
          </p14:sldIdLst>
        </p14:section>
        <p14:section name="Награждение" id="{80578f30-d835-a731-4f4b-f1993342b017}">
          <p14:sldIdLst>
            <p14:sldId id="257"/>
            <p14:sldId id="258"/>
            <p14:sldId id="259"/>
            <p14:sldId id="260"/>
          </p14:sldIdLst>
        </p14:section>
        <p14:section name="Драйверы и практики" id="{1a1f8ab3-894e-159f-a6fd-2f199d29faf4}">
          <p14:sldIdLst>
            <p14:sldId id="261"/>
            <p14:sldId id="262"/>
            <p14:sldId id="263"/>
            <p14:sldId id="264"/>
            <p14:sldId id="265"/>
          </p14:sldIdLst>
        </p14:section>
        <p14:section name="Куда идём в 4 квартале" id="{7b653b28-7102-18e8-21b6-962a48078f19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Командная работа" id="{68fe9f5a-8e80-c80c-a042-8e3717dcb7ec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&#1054;&#1073;&#1083;&#1086;&#1078;&#1082;&#1072;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&#1056;&#1072;&#1079;&#1076;&#1077;&#1083;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&#1047;&#1072;&#1075;&#1086;&#1083;&#1086;&#1074;&#1086;&#1082;-&#1080;-&#1082;&#1086;&#1085;&#1090;&#1077;&#1085;&#1090;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&#1057;&#1087;&#1080;&#1082;&#1077;&#1088;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&#1040;&#1082;&#1094;&#1077;&#1085;&#1090;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&#1060;&#1080;&#1085;&#1072;&#1083;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&#1062;&#1080;&#1092;&#1088;&#1099;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3816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3816" y="2606040"/>
            <a:ext cx="64008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3816" y="379476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контен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3816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 · Домклик ВВБ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ике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3816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 · Домклик ВВБ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Акцен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3816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 · Домклик ВВБ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89F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raf/presentation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09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737360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МОТОР! · ДОМКЛИК ВВБ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194560"/>
            <a:ext cx="9601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 руководителей</a:t>
            </a:r>
            <a:endParaRPr lang="en-US" sz="5600" dirty="0"/>
          </a:p>
        </p:txBody>
      </p:sp>
      <p:sp>
        <p:nvSpPr>
          <p:cNvPr id="4" name="Хлопушка"/>
          <p:cNvSpPr/>
          <p:nvPr/>
        </p:nvSpPr>
        <p:spPr>
          <a:xfrm>
            <a:off x="813816" y="4343400"/>
            <a:ext cx="10564063" cy="960120"/>
          </a:xfrm>
          <a:prstGeom prst="roundRect">
            <a:avLst>
              <a:gd name="adj" fmla="val 5714"/>
            </a:avLst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4507992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FA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4800600"/>
            <a:ext cx="3064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Домклик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35170" y="4343400"/>
            <a:ext cx="0" cy="960120"/>
          </a:xfrm>
          <a:prstGeom prst="line">
            <a:avLst/>
          </a:prstGeom>
          <a:noFill/>
          <a:ln w="19050">
            <a:solidFill>
              <a:srgbClr val="F2F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3770" y="4507992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FA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63770" y="4800600"/>
            <a:ext cx="3064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Волго-Вятский банк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56525" y="4343400"/>
            <a:ext cx="0" cy="960120"/>
          </a:xfrm>
          <a:prstGeom prst="line">
            <a:avLst/>
          </a:prstGeom>
          <a:noFill/>
          <a:ln w="19050">
            <a:solidFill>
              <a:srgbClr val="F2F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85125" y="4507992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FA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85125" y="4800600"/>
            <a:ext cx="3064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квартал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600200"/>
            <a:ext cx="4608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BD36A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3816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1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3816" y="26060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3816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территории (ГОСБ) и лучшие сотрудники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 · ЕКП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места в своих кластерах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5" name="Фото"/>
          <p:cNvSpPr/>
          <p:nvPr/>
        </p:nvSpPr>
        <p:spPr>
          <a:xfrm>
            <a:off x="1014984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руководителя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4984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в кластере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Татарстан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20514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9" name="Фото"/>
          <p:cNvSpPr/>
          <p:nvPr/>
        </p:nvSpPr>
        <p:spPr>
          <a:xfrm>
            <a:off x="4621682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руководителя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21682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в кластере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1682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Мордовское ГОСБ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27213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3" name="Фото"/>
          <p:cNvSpPr/>
          <p:nvPr/>
        </p:nvSpPr>
        <p:spPr>
          <a:xfrm>
            <a:off x="8228381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руководителя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8381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в кластере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8381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ГОСБ Марий Эл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 · КПЭ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ГОСБ по выполнению показателей</a:t>
            </a:r>
            <a:endParaRPr lang="en-US" sz="3600" dirty="0"/>
          </a:p>
        </p:txBody>
      </p:sp>
      <p:sp>
        <p:nvSpPr>
          <p:cNvPr id="4" name="Ранг 2"/>
          <p:cNvSpPr/>
          <p:nvPr/>
        </p:nvSpPr>
        <p:spPr>
          <a:xfrm>
            <a:off x="813816" y="4572000"/>
            <a:ext cx="2490140" cy="1188720"/>
          </a:xfrm>
          <a:prstGeom prst="rect">
            <a:avLst/>
          </a:prstGeom>
          <a:solidFill>
            <a:srgbClr val="1B4A2C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ранг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4114800"/>
            <a:ext cx="249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Мордовское ГОСБ</a:t>
            </a:r>
            <a:endParaRPr lang="en-US" sz="1600" dirty="0"/>
          </a:p>
        </p:txBody>
      </p:sp>
      <p:sp>
        <p:nvSpPr>
          <p:cNvPr id="6" name="Фото"/>
          <p:cNvSpPr/>
          <p:nvPr/>
        </p:nvSpPr>
        <p:spPr>
          <a:xfrm>
            <a:off x="1601686" y="3090672"/>
            <a:ext cx="914400" cy="914400"/>
          </a:xfrm>
          <a:prstGeom prst="ellipse">
            <a:avLst>
              <a:gd name="adj" fmla="val 14000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</a:t>
            </a:r>
            <a:endParaRPr lang="en-US" sz="1200" dirty="0"/>
          </a:p>
        </p:txBody>
      </p:sp>
      <p:sp>
        <p:nvSpPr>
          <p:cNvPr id="7" name="Ранг 1"/>
          <p:cNvSpPr/>
          <p:nvPr/>
        </p:nvSpPr>
        <p:spPr>
          <a:xfrm>
            <a:off x="3505124" y="4114800"/>
            <a:ext cx="2490140" cy="1645920"/>
          </a:xfrm>
          <a:prstGeom prst="rect">
            <a:avLst/>
          </a:prstGeom>
          <a:solidFill>
            <a:srgbClr val="4A3A14"/>
          </a:solidFill>
          <a:ln w="19050">
            <a:solidFill>
              <a:srgbClr val="F5B5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ранг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05124" y="3657600"/>
            <a:ext cx="249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Кировское ГОСБ</a:t>
            </a:r>
            <a:endParaRPr lang="en-US" sz="1600" dirty="0"/>
          </a:p>
        </p:txBody>
      </p:sp>
      <p:sp>
        <p:nvSpPr>
          <p:cNvPr id="9" name="Фото"/>
          <p:cNvSpPr/>
          <p:nvPr/>
        </p:nvSpPr>
        <p:spPr>
          <a:xfrm>
            <a:off x="4292994" y="2633472"/>
            <a:ext cx="914400" cy="914400"/>
          </a:xfrm>
          <a:prstGeom prst="ellipse">
            <a:avLst>
              <a:gd name="adj" fmla="val 14000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</a:t>
            </a:r>
            <a:endParaRPr lang="en-US" sz="1200" dirty="0"/>
          </a:p>
        </p:txBody>
      </p:sp>
      <p:sp>
        <p:nvSpPr>
          <p:cNvPr id="10" name="Ранг 1"/>
          <p:cNvSpPr/>
          <p:nvPr/>
        </p:nvSpPr>
        <p:spPr>
          <a:xfrm>
            <a:off x="6196432" y="4114800"/>
            <a:ext cx="2490140" cy="1645920"/>
          </a:xfrm>
          <a:prstGeom prst="rect">
            <a:avLst/>
          </a:prstGeom>
          <a:solidFill>
            <a:srgbClr val="4A3A14"/>
          </a:solidFill>
          <a:ln w="19050">
            <a:solidFill>
              <a:srgbClr val="F5B5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ранг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96432" y="3657600"/>
            <a:ext cx="249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ГОСБ Марий Эл</a:t>
            </a:r>
            <a:endParaRPr lang="en-US" sz="1600" dirty="0"/>
          </a:p>
        </p:txBody>
      </p:sp>
      <p:sp>
        <p:nvSpPr>
          <p:cNvPr id="12" name="Фото"/>
          <p:cNvSpPr/>
          <p:nvPr/>
        </p:nvSpPr>
        <p:spPr>
          <a:xfrm>
            <a:off x="6984302" y="2633472"/>
            <a:ext cx="914400" cy="914400"/>
          </a:xfrm>
          <a:prstGeom prst="ellipse">
            <a:avLst>
              <a:gd name="adj" fmla="val 14000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</a:t>
            </a:r>
            <a:endParaRPr lang="en-US" sz="1200" dirty="0"/>
          </a:p>
        </p:txBody>
      </p:sp>
      <p:sp>
        <p:nvSpPr>
          <p:cNvPr id="13" name="Ранг 3"/>
          <p:cNvSpPr/>
          <p:nvPr/>
        </p:nvSpPr>
        <p:spPr>
          <a:xfrm>
            <a:off x="8887739" y="4937760"/>
            <a:ext cx="2490140" cy="822960"/>
          </a:xfrm>
          <a:prstGeom prst="rect">
            <a:avLst/>
          </a:prstGeom>
          <a:solidFill>
            <a:srgbClr val="1F2A22"/>
          </a:solidFill>
          <a:ln w="19050">
            <a:solidFill>
              <a:srgbClr val="8A958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ранг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87739" y="4480560"/>
            <a:ext cx="249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Чувашское ГОСБ</a:t>
            </a:r>
            <a:endParaRPr lang="en-US" sz="1600" dirty="0"/>
          </a:p>
        </p:txBody>
      </p:sp>
      <p:sp>
        <p:nvSpPr>
          <p:cNvPr id="15" name="Фото"/>
          <p:cNvSpPr/>
          <p:nvPr/>
        </p:nvSpPr>
        <p:spPr>
          <a:xfrm>
            <a:off x="9675609" y="3456432"/>
            <a:ext cx="914400" cy="914400"/>
          </a:xfrm>
          <a:prstGeom prst="ellipse">
            <a:avLst>
              <a:gd name="adj" fmla="val 14000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 · СОТРУДНИКИ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сотрудники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5" name="Фото"/>
          <p:cNvSpPr/>
          <p:nvPr/>
        </p:nvSpPr>
        <p:spPr>
          <a:xfrm>
            <a:off x="1014984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сотрудника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4984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МРП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 Кокель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5239512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Чувашское ГОСБ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20514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0" name="Фото"/>
          <p:cNvSpPr/>
          <p:nvPr/>
        </p:nvSpPr>
        <p:spPr>
          <a:xfrm>
            <a:off x="4621682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сотрудника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21682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21682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Фамилия]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1682" y="5239512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[ГОСБ]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7213" y="2194560"/>
            <a:ext cx="3350666" cy="3611880"/>
          </a:xfrm>
          <a:prstGeom prst="roundRect">
            <a:avLst>
              <a:gd name="adj" fmla="val 4366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5" name="Фото"/>
          <p:cNvSpPr/>
          <p:nvPr/>
        </p:nvSpPr>
        <p:spPr>
          <a:xfrm>
            <a:off x="8228381" y="2395728"/>
            <a:ext cx="2948330" cy="1920240"/>
          </a:xfrm>
          <a:prstGeom prst="roundRect">
            <a:avLst>
              <a:gd name="adj" fmla="val 6667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сотрудника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8381" y="4480560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КМ ДК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8381" y="4828032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Фамилия]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8381" y="5239512"/>
            <a:ext cx="294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[ГОСБ]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600200"/>
            <a:ext cx="4608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BD36A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3816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3816" y="26060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и практики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3816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ОД, неипотека, опыт Татарстана и Удмуртии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· ДОП. ОД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ОД: как считается</a:t>
            </a:r>
            <a:endParaRPr lang="en-US" sz="4000" dirty="0"/>
          </a:p>
        </p:txBody>
      </p:sp>
      <p:sp>
        <p:nvSpPr>
          <p:cNvPr id="4" name="Фото"/>
          <p:cNvSpPr/>
          <p:nvPr/>
        </p:nvSpPr>
        <p:spPr>
          <a:xfrm>
            <a:off x="8360359" y="868680"/>
            <a:ext cx="3017520" cy="3520440"/>
          </a:xfrm>
          <a:prstGeom prst="roundRect">
            <a:avLst>
              <a:gd name="adj" fmla="val 4242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360359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0359" y="4828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Мария Шачкова</a:t>
            </a:r>
            <a:endParaRPr lang="en-US" sz="18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· НЕИПОТЕКА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4 квартала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01952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нам даст каждый драйвер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" y="2423160"/>
            <a:ext cx="3350666" cy="2560320"/>
          </a:xfrm>
          <a:prstGeom prst="roundRect">
            <a:avLst>
              <a:gd name="adj" fmla="val 5714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679192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017520"/>
            <a:ext cx="2838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аккредитивов и СБР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749040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+[__]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4434840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неипотеку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0514" y="2423160"/>
            <a:ext cx="3350666" cy="2560320"/>
          </a:xfrm>
          <a:prstGeom prst="roundRect">
            <a:avLst>
              <a:gd name="adj" fmla="val 5714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6546" y="2679192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76546" y="3017520"/>
            <a:ext cx="2838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среднего чека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6546" y="3749040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+[__]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676546" y="4434840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неипотеку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7213" y="2423160"/>
            <a:ext cx="3350666" cy="2560320"/>
          </a:xfrm>
          <a:prstGeom prst="roundRect">
            <a:avLst>
              <a:gd name="adj" fmla="val 5714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3245" y="2679192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83245" y="3017520"/>
            <a:ext cx="2838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проникновения СсГ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83245" y="3749040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+[__]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283245" y="4434840"/>
            <a:ext cx="283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неипотеку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" y="5212080"/>
            <a:ext cx="10564063" cy="0"/>
          </a:xfrm>
          <a:prstGeom prst="line">
            <a:avLst/>
          </a:prstGeom>
          <a:noFill/>
          <a:ln w="19050">
            <a:solidFill>
              <a:srgbClr val="2A3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потенциал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34679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+[__]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· НЕИПОТЕКА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практики Татарстана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3816" y="4069080"/>
            <a:ext cx="4937760" cy="502920"/>
          </a:xfrm>
          <a:prstGeom prst="rect">
            <a:avLst/>
          </a:prstGeom>
          <a:solidFill>
            <a:srgbClr val="131A15"/>
          </a:solidFill>
          <a:ln w="19050">
            <a:solidFill>
              <a:srgbClr val="2BD36A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помогло сделать неипотеку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" y="4709160"/>
            <a:ext cx="4937760" cy="502920"/>
          </a:xfrm>
          <a:prstGeom prst="rect">
            <a:avLst/>
          </a:prstGeom>
          <a:solidFill>
            <a:srgbClr val="131A15"/>
          </a:solidFill>
          <a:ln w="19050">
            <a:solidFill>
              <a:srgbClr val="F5B544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поменяли</a:t>
            </a:r>
            <a:endParaRPr lang="en-US" sz="1600" dirty="0"/>
          </a:p>
        </p:txBody>
      </p:sp>
      <p:sp>
        <p:nvSpPr>
          <p:cNvPr id="6" name="Фото"/>
          <p:cNvSpPr/>
          <p:nvPr/>
        </p:nvSpPr>
        <p:spPr>
          <a:xfrm>
            <a:off x="6348679" y="86868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48679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48679" y="4325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Наталья Шереметьева</a:t>
            </a:r>
            <a:endParaRPr lang="en-US" sz="1800" dirty="0"/>
          </a:p>
        </p:txBody>
      </p:sp>
      <p:sp>
        <p:nvSpPr>
          <p:cNvPr id="9" name="Фото"/>
          <p:cNvSpPr/>
          <p:nvPr/>
        </p:nvSpPr>
        <p:spPr>
          <a:xfrm>
            <a:off x="9000439" y="86868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00439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00439" y="4325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Арина Кирюшина</a:t>
            </a:r>
            <a:endParaRPr lang="en-US" sz="1800" dirty="0"/>
          </a:p>
        </p:txBody>
      </p:sp>
      <p:sp>
        <p:nvSpPr>
          <p:cNvPr id="12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· РКИСП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Успех Удмуртского ГОСБ 2025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РКиСП. Лучшие практики</a:t>
            </a:r>
            <a:endParaRPr lang="en-US" sz="1800" dirty="0"/>
          </a:p>
        </p:txBody>
      </p:sp>
      <p:sp>
        <p:nvSpPr>
          <p:cNvPr id="5" name="Фото"/>
          <p:cNvSpPr/>
          <p:nvPr/>
        </p:nvSpPr>
        <p:spPr>
          <a:xfrm>
            <a:off x="8360359" y="868680"/>
            <a:ext cx="3017520" cy="3520440"/>
          </a:xfrm>
          <a:prstGeom prst="roundRect">
            <a:avLst>
              <a:gd name="adj" fmla="val 4242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0359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360359" y="4828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 Павлов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31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BD36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пойдём в 4 квартале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 или ТОП 3 / 33%</a:t>
            </a:r>
            <a:endParaRPr lang="en-US" sz="2400" dirty="0"/>
          </a:p>
        </p:txBody>
      </p:sp>
      <p:sp>
        <p:nvSpPr>
          <p:cNvPr id="6" name="Фото"/>
          <p:cNvSpPr/>
          <p:nvPr/>
        </p:nvSpPr>
        <p:spPr>
          <a:xfrm>
            <a:off x="8360359" y="868680"/>
            <a:ext cx="3017520" cy="3520440"/>
          </a:xfrm>
          <a:prstGeom prst="roundRect">
            <a:avLst>
              <a:gd name="adj" fmla="val 4242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360359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0359" y="4828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 Пеньковский</a:t>
            </a:r>
            <a:endParaRPr lang="en-US" sz="1800" dirty="0"/>
          </a:p>
        </p:txBody>
      </p:sp>
      <p:sp>
        <p:nvSpPr>
          <p:cNvPr id="9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ИТОГИ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3 квартала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331720"/>
            <a:ext cx="1988454" cy="3246120"/>
          </a:xfrm>
          <a:prstGeom prst="roundRect">
            <a:avLst>
              <a:gd name="adj" fmla="val 7358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606040"/>
            <a:ext cx="1531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ЕКП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4754880"/>
            <a:ext cx="1531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57718" y="2331720"/>
            <a:ext cx="1988454" cy="3246120"/>
          </a:xfrm>
          <a:prstGeom prst="roundRect">
            <a:avLst>
              <a:gd name="adj" fmla="val 7358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86318" y="2606040"/>
            <a:ext cx="1531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КПЭ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86318" y="4754880"/>
            <a:ext cx="1531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01620" y="2331720"/>
            <a:ext cx="1988454" cy="3246120"/>
          </a:xfrm>
          <a:prstGeom prst="roundRect">
            <a:avLst>
              <a:gd name="adj" fmla="val 7358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0220" y="2606040"/>
            <a:ext cx="1531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 ЖК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30220" y="4754880"/>
            <a:ext cx="1531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245523" y="2331720"/>
            <a:ext cx="1988454" cy="3246120"/>
          </a:xfrm>
          <a:prstGeom prst="roundRect">
            <a:avLst>
              <a:gd name="adj" fmla="val 7358"/>
            </a:avLst>
          </a:prstGeom>
          <a:solidFill>
            <a:srgbClr val="131A15"/>
          </a:solidFill>
          <a:ln w="19050">
            <a:solidFill>
              <a:srgbClr val="2A3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74123" y="2606040"/>
            <a:ext cx="1531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ОД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74123" y="4754880"/>
            <a:ext cx="1531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ранг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389425" y="2331720"/>
            <a:ext cx="1988454" cy="3246120"/>
          </a:xfrm>
          <a:prstGeom prst="roundRect">
            <a:avLst>
              <a:gd name="adj" fmla="val 7358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8025" y="2606040"/>
            <a:ext cx="1531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ОД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18025" y="4754880"/>
            <a:ext cx="1531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142%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ИТОГИ 3 КВАРТАЛА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ТБ — ТОП 3, ГОСБ — ТОП 33%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240280"/>
          <a:ext cx="10564063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906524"/>
                <a:gridCol w="1906524"/>
                <a:gridCol w="1907438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B9C2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9C2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9C2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9C2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высокомаржинальных продуктов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ниже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Проникновение СБР + Аккредитив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ниже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Кроссы на сделку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ранг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ниже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Эффективность задач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ниже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Проникновение СсГ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5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ниже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Проникновение РПС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BD3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D3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выше цели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ПРОГНОЗ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Текущее выполнение не приведёт ТБ в ТОП 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3246120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текущей динамике: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" y="3749040"/>
            <a:ext cx="2524430" cy="1737360"/>
          </a:xfrm>
          <a:prstGeom prst="roundRect">
            <a:avLst>
              <a:gd name="adj" fmla="val 8421"/>
            </a:avLst>
          </a:prstGeom>
          <a:solidFill>
            <a:srgbClr val="221A0E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4023360"/>
            <a:ext cx="2067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ЕКП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4572000"/>
            <a:ext cx="20672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93694" y="3749040"/>
            <a:ext cx="2524430" cy="1737360"/>
          </a:xfrm>
          <a:prstGeom prst="roundRect">
            <a:avLst>
              <a:gd name="adj" fmla="val 8421"/>
            </a:avLst>
          </a:prstGeom>
          <a:solidFill>
            <a:srgbClr val="221A0E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22294" y="4023360"/>
            <a:ext cx="2067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ОД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22294" y="4572000"/>
            <a:ext cx="20672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5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73572" y="3749040"/>
            <a:ext cx="2524430" cy="1737360"/>
          </a:xfrm>
          <a:prstGeom prst="roundRect">
            <a:avLst>
              <a:gd name="adj" fmla="val 8421"/>
            </a:avLst>
          </a:prstGeom>
          <a:solidFill>
            <a:srgbClr val="221A0E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2172" y="4023360"/>
            <a:ext cx="2067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 ЖК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2172" y="4572000"/>
            <a:ext cx="20672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853449" y="3749040"/>
            <a:ext cx="2524430" cy="1737360"/>
          </a:xfrm>
          <a:prstGeom prst="roundRect">
            <a:avLst>
              <a:gd name="adj" fmla="val 8421"/>
            </a:avLst>
          </a:prstGeom>
          <a:solidFill>
            <a:srgbClr val="221A0E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82049" y="4023360"/>
            <a:ext cx="2067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ОД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82049" y="4572000"/>
            <a:ext cx="20672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89F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ВЫБОР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идём?</a:t>
            </a:r>
            <a:endParaRPr lang="en-US" sz="3600" dirty="0"/>
          </a:p>
        </p:txBody>
      </p:sp>
      <p:sp>
        <p:nvSpPr>
          <p:cNvPr id="4" name="Старт"/>
          <p:cNvSpPr/>
          <p:nvPr/>
        </p:nvSpPr>
        <p:spPr>
          <a:xfrm>
            <a:off x="1783080" y="3063240"/>
            <a:ext cx="1508760" cy="1508760"/>
          </a:xfrm>
          <a:prstGeom prst="ellipse">
            <a:avLst/>
          </a:prstGeom>
          <a:solidFill>
            <a:srgbClr val="131A15"/>
          </a:solidFill>
          <a:ln w="25400">
            <a:solidFill>
              <a:srgbClr val="F2F0E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здесь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кв.</a:t>
            </a:r>
            <a:endParaRPr lang="en-US" sz="1200" dirty="0"/>
          </a:p>
        </p:txBody>
      </p:sp>
      <p:sp>
        <p:nvSpPr>
          <p:cNvPr id="5" name="Стрелка: путь 1"/>
          <p:cNvSpPr/>
          <p:nvPr/>
        </p:nvSpPr>
        <p:spPr>
          <a:xfrm flipV="1">
            <a:off x="3429000" y="2606040"/>
            <a:ext cx="3429000" cy="1207008"/>
          </a:xfrm>
          <a:prstGeom prst="line">
            <a:avLst/>
          </a:prstGeom>
          <a:noFill/>
          <a:ln w="7620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6" name="Стрелка: путь 2"/>
          <p:cNvSpPr/>
          <p:nvPr/>
        </p:nvSpPr>
        <p:spPr>
          <a:xfrm>
            <a:off x="3429000" y="3813048"/>
            <a:ext cx="3429000" cy="950976"/>
          </a:xfrm>
          <a:prstGeom prst="line">
            <a:avLst/>
          </a:prstGeom>
          <a:noFill/>
          <a:ln w="76200">
            <a:solidFill>
              <a:srgbClr val="2BD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59168" y="1901952"/>
            <a:ext cx="4318711" cy="1399032"/>
          </a:xfrm>
          <a:prstGeom prst="roundRect">
            <a:avLst>
              <a:gd name="adj" fmla="val 10458"/>
            </a:avLst>
          </a:prstGeom>
          <a:solidFill>
            <a:srgbClr val="1E180C"/>
          </a:solidFill>
          <a:ln w="28575">
            <a:solidFill>
              <a:srgbClr val="F5B5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33488" y="2084832"/>
            <a:ext cx="3770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33488" y="2359152"/>
            <a:ext cx="3770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ТБ — ТОП 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33488" y="2843784"/>
            <a:ext cx="37700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7D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ГОСБ — ТОП 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59168" y="4059936"/>
            <a:ext cx="4318711" cy="1399032"/>
          </a:xfrm>
          <a:prstGeom prst="roundRect">
            <a:avLst>
              <a:gd name="adj" fmla="val 10458"/>
            </a:avLst>
          </a:prstGeom>
          <a:solidFill>
            <a:srgbClr val="10261A"/>
          </a:solidFill>
          <a:ln w="28575">
            <a:solidFill>
              <a:srgbClr val="2BD3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33488" y="4242816"/>
            <a:ext cx="3770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33488" y="4517136"/>
            <a:ext cx="3770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ТБ — ТОП 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5001768"/>
            <a:ext cx="37700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DF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ГОСБ — ТОП 33%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ПУТЬ 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ТОП 1 ТБ нужно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2490140" cy="1554480"/>
          </a:xfrm>
          <a:prstGeom prst="roundRect">
            <a:avLst>
              <a:gd name="adj" fmla="val 9412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42316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ЕКП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306324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05124" y="2194560"/>
            <a:ext cx="2490140" cy="1554480"/>
          </a:xfrm>
          <a:prstGeom prst="roundRect">
            <a:avLst>
              <a:gd name="adj" fmla="val 9412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3724" y="242316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ГОСБ в своих кластерах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33724" y="306324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96432" y="2194560"/>
            <a:ext cx="2490140" cy="1554480"/>
          </a:xfrm>
          <a:prstGeom prst="roundRect">
            <a:avLst>
              <a:gd name="adj" fmla="val 9412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5032" y="242316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25032" y="306324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887739" y="2194560"/>
            <a:ext cx="2490140" cy="1554480"/>
          </a:xfrm>
          <a:prstGeom prst="roundRect">
            <a:avLst>
              <a:gd name="adj" fmla="val 9412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16339" y="242316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16339" y="306324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1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3816" y="3931920"/>
            <a:ext cx="2490140" cy="1783080"/>
          </a:xfrm>
          <a:prstGeom prst="roundRect">
            <a:avLst>
              <a:gd name="adj" fmla="val 8205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16052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Проникновение СБР + Аккредитив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502920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33%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505124" y="3931920"/>
            <a:ext cx="2490140" cy="1783080"/>
          </a:xfrm>
          <a:prstGeom prst="roundRect">
            <a:avLst>
              <a:gd name="adj" fmla="val 8205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3724" y="4160520"/>
            <a:ext cx="2032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РПС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733724" y="502920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196432" y="3931920"/>
            <a:ext cx="5181448" cy="1783080"/>
          </a:xfrm>
          <a:prstGeom prst="roundRect">
            <a:avLst>
              <a:gd name="adj" fmla="val 8205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5032" y="416052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Проникновение СсГ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25032" y="461772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менее 8%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партнёрских заявках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менее 10%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ЧМАК и ФЛ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600200"/>
            <a:ext cx="4608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BD36A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3816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4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3816" y="26060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работа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3816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на 4 квартал, старт 2027, коллеги КИБ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813816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4 · КОМАНДНАЯ РАБОТА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1143000"/>
            <a:ext cx="10564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поможет в 4 квартале быть в ТОП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01952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1 + 2 + 1 идеи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" y="2423160"/>
            <a:ext cx="3350666" cy="3291840"/>
          </a:xfrm>
          <a:prstGeom prst="roundRect">
            <a:avLst>
              <a:gd name="adj" fmla="val 4444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7947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для ЦА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20514" y="2423160"/>
            <a:ext cx="3350666" cy="3291840"/>
          </a:xfrm>
          <a:prstGeom prst="roundRect">
            <a:avLst>
              <a:gd name="adj" fmla="val 4444"/>
            </a:avLst>
          </a:prstGeom>
          <a:solidFill>
            <a:srgbClr val="131A15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94834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694834" y="37947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быстрореализуемые идеи на уровне ГОСБ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94834" y="4800600"/>
            <a:ext cx="28020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на что я могу повлиять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7213" y="2423160"/>
            <a:ext cx="3350666" cy="3291840"/>
          </a:xfrm>
          <a:prstGeom prst="roundRect">
            <a:avLst>
              <a:gd name="adj" fmla="val 4444"/>
            </a:avLst>
          </a:prstGeom>
          <a:solidFill>
            <a:srgbClr val="131A15"/>
          </a:solidFill>
          <a:ln w="19050">
            <a:solidFill>
              <a:srgbClr val="2BD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1533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301533" y="37947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применения агента в работе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др"/>
          <p:cNvSpPr/>
          <p:nvPr/>
        </p:nvSpPr>
        <p:spPr>
          <a:xfrm>
            <a:off x="2916936" y="1207008"/>
            <a:ext cx="6355080" cy="4443984"/>
          </a:xfrm>
          <a:prstGeom prst="roundRect">
            <a:avLst>
              <a:gd name="adj" fmla="val 5761"/>
            </a:avLst>
          </a:prstGeom>
          <a:ln w="28575">
            <a:solidFill>
              <a:srgbClr val="2BD36A">
                <a:alpha val="5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205740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2027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14600"/>
            <a:ext cx="105640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379476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оставляем?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3816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4 · ГОСТИ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3816" y="2423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Коллеги КИБ</a:t>
            </a:r>
            <a:endParaRPr lang="en-US" sz="4000" dirty="0"/>
          </a:p>
        </p:txBody>
      </p:sp>
      <p:sp>
        <p:nvSpPr>
          <p:cNvPr id="4" name="Фото"/>
          <p:cNvSpPr/>
          <p:nvPr/>
        </p:nvSpPr>
        <p:spPr>
          <a:xfrm>
            <a:off x="8360359" y="868680"/>
            <a:ext cx="3017520" cy="3520440"/>
          </a:xfrm>
          <a:prstGeom prst="roundRect">
            <a:avLst>
              <a:gd name="adj" fmla="val 4242"/>
            </a:avLst>
          </a:prstGeom>
          <a:solidFill>
            <a:srgbClr val="1A241D"/>
          </a:solidFill>
          <a:ln w="19050">
            <a:solidFill>
              <a:srgbClr val="2BD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спикера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360359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0359" y="4828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Ирина Ягунова</a:t>
            </a:r>
            <a:endParaRPr lang="en-US" sz="18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13816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3479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148840"/>
            <a:ext cx="3338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BD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1980133" y="3611880"/>
            <a:ext cx="1005840" cy="0"/>
          </a:xfrm>
          <a:prstGeom prst="line">
            <a:avLst/>
          </a:prstGeom>
          <a:noFill/>
          <a:ln w="25400">
            <a:solidFill>
              <a:srgbClr val="2BD3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3816" y="3794760"/>
            <a:ext cx="33384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ЕГРН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426610" y="2148840"/>
            <a:ext cx="3338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5592928" y="3611880"/>
            <a:ext cx="1005840" cy="0"/>
          </a:xfrm>
          <a:prstGeom prst="line">
            <a:avLst/>
          </a:prstGeom>
          <a:noFill/>
          <a:ln w="25400">
            <a:solidFill>
              <a:srgbClr val="F5B5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26610" y="3794760"/>
            <a:ext cx="33384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ЕГРН с ПФ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39405" y="2148840"/>
            <a:ext cx="3338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9205722" y="3611880"/>
            <a:ext cx="1005840" cy="0"/>
          </a:xfrm>
          <a:prstGeom prst="line">
            <a:avLst/>
          </a:prstGeom>
          <a:noFill/>
          <a:ln w="25400">
            <a:solidFill>
              <a:srgbClr val="F2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39405" y="3794760"/>
            <a:ext cx="33384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ЕГРН без ПФ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Хлопушка">
  <a:themeElements>
    <a:clrScheme name="Хлопушка">
      <a:dk1>
        <a:srgbClr val="0A0D0B"/>
      </a:dk1>
      <a:lt1>
        <a:srgbClr val="F2F0EA"/>
      </a:lt1>
      <a:dk2>
        <a:srgbClr val="131A15"/>
      </a:dk2>
      <a:lt2>
        <a:srgbClr val="B9C2BA"/>
      </a:lt2>
      <a:accent1>
        <a:srgbClr val="2BD36A"/>
      </a:accent1>
      <a:accent2>
        <a:srgbClr val="F5B544"/>
      </a:accent2>
      <a:accent3>
        <a:srgbClr val="8A958D"/>
      </a:accent3>
      <a:accent4>
        <a:srgbClr val="3E5246"/>
      </a:accent4>
      <a:accent5>
        <a:srgbClr val="1A241D"/>
      </a:accent5>
      <a:accent6>
        <a:srgbClr val="2A372E"/>
      </a:accent6>
      <a:hlink>
        <a:srgbClr val="2BD36A"/>
      </a:hlink>
      <a:folHlink>
        <a:srgbClr val="F5B544"/>
      </a:folHlink>
    </a:clrScheme>
    <a:fontScheme name="Хлопушк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Стратегическая сессия Домклик ВВБ</dc:title>
  <dc:subject>PptxGenJS Presentation</dc:subject>
  <dc:creator>PptxGenJS</dc:creator>
  <cp:lastModifiedBy>PptxGenJS</cp:lastModifiedBy>
  <cp:revision>1</cp:revision>
  <dcterms:created xsi:type="dcterms:W3CDTF">2026-10-05T18:54:43Z</dcterms:created>
  <dcterms:modified xsi:type="dcterms:W3CDTF">2026-10-05T18:54:43Z</dcterms:modified>
</cp:coreProperties>
</file>